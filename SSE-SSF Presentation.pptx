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1" r:id="rId1"/>
  </p:sldMasterIdLst>
  <p:notesMasterIdLst>
    <p:notesMasterId r:id="rId4"/>
  </p:notes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02"/>
    <p:restoredTop sz="94693"/>
  </p:normalViewPr>
  <p:slideViewPr>
    <p:cSldViewPr snapToGrid="0">
      <p:cViewPr varScale="1">
        <p:scale>
          <a:sx n="98" d="100"/>
          <a:sy n="98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9FDB1-AE8A-CB42-879E-CD1C656CFFA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15F33-6FDF-554D-B6CB-5D7D9D38D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9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15F33-6FDF-554D-B6CB-5D7D9D38DD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16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7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40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62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10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0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89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79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8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7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DB649-47FB-6C44-895B-7307FE398A0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03FE2-2C34-7345-9E75-E89A331F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653C6-A4E5-AF62-A0B3-5C473988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60;p2">
            <a:extLst>
              <a:ext uri="{FF2B5EF4-FFF2-40B4-BE49-F238E27FC236}">
                <a16:creationId xmlns:a16="http://schemas.microsoft.com/office/drawing/2014/main" id="{35B0FE60-D3A1-C324-F4AA-8DB11AE2A773}"/>
              </a:ext>
            </a:extLst>
          </p:cNvPr>
          <p:cNvSpPr/>
          <p:nvPr/>
        </p:nvSpPr>
        <p:spPr>
          <a:xfrm>
            <a:off x="425" y="0"/>
            <a:ext cx="12193200" cy="428573"/>
          </a:xfrm>
          <a:prstGeom prst="rect">
            <a:avLst/>
          </a:prstGeom>
          <a:solidFill>
            <a:srgbClr val="215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046971-41AD-8162-DDCA-AD2A94E34BB8}"/>
              </a:ext>
            </a:extLst>
          </p:cNvPr>
          <p:cNvSpPr/>
          <p:nvPr/>
        </p:nvSpPr>
        <p:spPr>
          <a:xfrm>
            <a:off x="564522" y="3409531"/>
            <a:ext cx="11185517" cy="3237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DA16-667C-E634-E8E5-C636B7A8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523" y="1457765"/>
            <a:ext cx="4470217" cy="1805157"/>
          </a:xfrm>
          <a:solidFill>
            <a:schemeClr val="tx2">
              <a:lumMod val="10000"/>
              <a:lumOff val="90000"/>
              <a:alpha val="66793"/>
            </a:schemeClr>
          </a:solidFill>
          <a:ln>
            <a:solidFill>
              <a:schemeClr val="tx1"/>
            </a:solidFill>
            <a:prstDash val="dashDot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Why Autonomous Lunar Rovers?</a:t>
            </a:r>
          </a:p>
          <a:p>
            <a:pPr lvl="0">
              <a:buFont typeface="Wingdings" pitchFamily="2" charset="2"/>
              <a:buChar char="§"/>
            </a:pPr>
            <a:r>
              <a:rPr 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Sustained lunar presence requires reliable autonomous systems </a:t>
            </a:r>
          </a:p>
          <a:p>
            <a:pPr lvl="0">
              <a:buFont typeface="Wingdings" pitchFamily="2" charset="2"/>
              <a:buChar char="§"/>
            </a:pPr>
            <a:r>
              <a:rPr 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Rovers enable mobility, science, and ISRU (regolith mining)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1EC74-B5CA-15B2-7CB9-CBAB11C3951C}"/>
              </a:ext>
            </a:extLst>
          </p:cNvPr>
          <p:cNvSpPr txBox="1"/>
          <p:nvPr/>
        </p:nvSpPr>
        <p:spPr>
          <a:xfrm>
            <a:off x="5255926" y="1477818"/>
            <a:ext cx="6494113" cy="1785104"/>
          </a:xfrm>
          <a:prstGeom prst="rect">
            <a:avLst/>
          </a:prstGeom>
          <a:solidFill>
            <a:schemeClr val="accent5">
              <a:lumMod val="20000"/>
              <a:lumOff val="80000"/>
              <a:alpha val="20396"/>
            </a:schemeClr>
          </a:solidFill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Challenge: </a:t>
            </a:r>
          </a:p>
          <a:p>
            <a:pPr marL="37719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Moon's unstructured, heterogeneous, and dynamically changing landscapes</a:t>
            </a:r>
          </a:p>
          <a:p>
            <a:pPr marL="377190" lvl="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Rovers must operate with high autonomy due to communication delays &amp; limited bandwidth </a:t>
            </a:r>
          </a:p>
          <a:p>
            <a:pPr marL="377190" lvl="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Earth-in-the-loop oversight is impractical for time-critical tasks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CB14C8-3DB9-C05E-5FBA-2301C32D5097}"/>
              </a:ext>
            </a:extLst>
          </p:cNvPr>
          <p:cNvSpPr/>
          <p:nvPr/>
        </p:nvSpPr>
        <p:spPr>
          <a:xfrm>
            <a:off x="1398988" y="5660922"/>
            <a:ext cx="3586760" cy="931771"/>
          </a:xfrm>
          <a:prstGeom prst="roundRect">
            <a:avLst/>
          </a:prstGeom>
          <a:solidFill>
            <a:schemeClr val="tx2">
              <a:lumMod val="10000"/>
              <a:lumOff val="90000"/>
              <a:alpha val="42859"/>
            </a:schemeClr>
          </a:solidFill>
          <a:ln>
            <a:solidFill>
              <a:srgbClr val="0070C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F84F68-583E-8AED-749A-C0B74F0958C4}"/>
              </a:ext>
            </a:extLst>
          </p:cNvPr>
          <p:cNvSpPr/>
          <p:nvPr/>
        </p:nvSpPr>
        <p:spPr>
          <a:xfrm>
            <a:off x="1306286" y="4993088"/>
            <a:ext cx="3679462" cy="382716"/>
          </a:xfrm>
          <a:prstGeom prst="roundRect">
            <a:avLst/>
          </a:prstGeom>
          <a:solidFill>
            <a:srgbClr val="FF0000">
              <a:alpha val="16171"/>
            </a:srgbClr>
          </a:solidFill>
          <a:ln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F6F6D9-5180-9E22-464E-6D79043A931C}"/>
              </a:ext>
            </a:extLst>
          </p:cNvPr>
          <p:cNvSpPr/>
          <p:nvPr/>
        </p:nvSpPr>
        <p:spPr>
          <a:xfrm>
            <a:off x="2761470" y="3504753"/>
            <a:ext cx="3229508" cy="13995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 1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(Terrain Scene Perception</a:t>
            </a:r>
            <a:r>
              <a:rPr lang="en-US" b="1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Obstacle/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lope detection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Traversability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map</a:t>
            </a:r>
            <a:endParaRPr lang="en-US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0D92DBD-DDB1-33D1-B145-6F06672390B9}"/>
              </a:ext>
            </a:extLst>
          </p:cNvPr>
          <p:cNvSpPr/>
          <p:nvPr/>
        </p:nvSpPr>
        <p:spPr>
          <a:xfrm>
            <a:off x="6251740" y="3517543"/>
            <a:ext cx="3097069" cy="13995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Objective 2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(Multi-Sensory Mineral Recognition)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Mineral class  &amp;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Confidence</a:t>
            </a:r>
          </a:p>
        </p:txBody>
      </p:sp>
      <p:pic>
        <p:nvPicPr>
          <p:cNvPr id="12" name="Picture 10" descr="ESA - Lunar lidar">
            <a:extLst>
              <a:ext uri="{FF2B5EF4-FFF2-40B4-BE49-F238E27FC236}">
                <a16:creationId xmlns:a16="http://schemas.microsoft.com/office/drawing/2014/main" id="{E5C02DCF-AC62-F97F-3305-D0C1D3212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303030"/>
              </a:clrFrom>
              <a:clrTo>
                <a:srgbClr val="30303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25" y="3526559"/>
            <a:ext cx="1861375" cy="128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5931B0-DBCE-6A09-9F6E-69A4A0EB8014}"/>
              </a:ext>
            </a:extLst>
          </p:cNvPr>
          <p:cNvSpPr/>
          <p:nvPr/>
        </p:nvSpPr>
        <p:spPr>
          <a:xfrm>
            <a:off x="5831031" y="5132382"/>
            <a:ext cx="3517778" cy="13990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 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(Robust Rover Control)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Trajectory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Motion Control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Adaptive/Robust Controllers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4" descr="Take control of a moon rover with the Remote Rover Experiment project">
            <a:extLst>
              <a:ext uri="{FF2B5EF4-FFF2-40B4-BE49-F238E27FC236}">
                <a16:creationId xmlns:a16="http://schemas.microsoft.com/office/drawing/2014/main" id="{94994DDA-3770-692B-712C-46B4DE200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340" y="5214885"/>
            <a:ext cx="1974794" cy="13165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A27A521D-ACCF-8836-52A4-1F6A1753FFC8}"/>
              </a:ext>
            </a:extLst>
          </p:cNvPr>
          <p:cNvSpPr/>
          <p:nvPr/>
        </p:nvSpPr>
        <p:spPr>
          <a:xfrm rot="3103133">
            <a:off x="5546445" y="4800640"/>
            <a:ext cx="686108" cy="48542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D82FCAA-1AA5-AC09-F893-B09D5BD0C066}"/>
              </a:ext>
            </a:extLst>
          </p:cNvPr>
          <p:cNvSpPr/>
          <p:nvPr/>
        </p:nvSpPr>
        <p:spPr>
          <a:xfrm rot="18496867" flipH="1">
            <a:off x="8525383" y="4802233"/>
            <a:ext cx="686108" cy="48542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D9AF1-EB5A-F932-F831-CF2214C1F351}"/>
              </a:ext>
            </a:extLst>
          </p:cNvPr>
          <p:cNvSpPr txBox="1"/>
          <p:nvPr/>
        </p:nvSpPr>
        <p:spPr>
          <a:xfrm>
            <a:off x="1216475" y="5016290"/>
            <a:ext cx="35867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Conduct Scientific Research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 Students</a:t>
            </a:r>
          </a:p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Collaborate with NASA</a:t>
            </a:r>
          </a:p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Secure External Grants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C94FB29-A7B8-E6D8-0A06-B83C74CBA13E}"/>
              </a:ext>
            </a:extLst>
          </p:cNvPr>
          <p:cNvSpPr/>
          <p:nvPr/>
        </p:nvSpPr>
        <p:spPr>
          <a:xfrm>
            <a:off x="732309" y="5464599"/>
            <a:ext cx="5121605" cy="1137732"/>
          </a:xfrm>
          <a:custGeom>
            <a:avLst/>
            <a:gdLst>
              <a:gd name="csX0" fmla="*/ 0 w 4297165"/>
              <a:gd name="csY0" fmla="*/ 0 h 1137732"/>
              <a:gd name="csX1" fmla="*/ 956930 w 4297165"/>
              <a:gd name="csY1" fmla="*/ 21265 h 1137732"/>
              <a:gd name="csX2" fmla="*/ 2838893 w 4297165"/>
              <a:gd name="csY2" fmla="*/ 21265 h 1137732"/>
              <a:gd name="csX3" fmla="*/ 3827721 w 4297165"/>
              <a:gd name="csY3" fmla="*/ 85060 h 1137732"/>
              <a:gd name="csX4" fmla="*/ 4093535 w 4297165"/>
              <a:gd name="csY4" fmla="*/ 531628 h 1137732"/>
              <a:gd name="csX5" fmla="*/ 4125432 w 4297165"/>
              <a:gd name="csY5" fmla="*/ 1073888 h 1137732"/>
              <a:gd name="csX6" fmla="*/ 4284921 w 4297165"/>
              <a:gd name="csY6" fmla="*/ 1127051 h 1137732"/>
              <a:gd name="csX7" fmla="*/ 4274288 w 4297165"/>
              <a:gd name="csY7" fmla="*/ 1127051 h 1137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297165" h="1137732">
                <a:moveTo>
                  <a:pt x="0" y="0"/>
                </a:moveTo>
                <a:lnTo>
                  <a:pt x="956930" y="21265"/>
                </a:lnTo>
                <a:lnTo>
                  <a:pt x="2838893" y="21265"/>
                </a:lnTo>
                <a:cubicBezTo>
                  <a:pt x="3317358" y="31897"/>
                  <a:pt x="3618614" y="-1"/>
                  <a:pt x="3827721" y="85060"/>
                </a:cubicBezTo>
                <a:cubicBezTo>
                  <a:pt x="4036828" y="170121"/>
                  <a:pt x="4043917" y="366823"/>
                  <a:pt x="4093535" y="531628"/>
                </a:cubicBezTo>
                <a:cubicBezTo>
                  <a:pt x="4143153" y="696433"/>
                  <a:pt x="4093534" y="974651"/>
                  <a:pt x="4125432" y="1073888"/>
                </a:cubicBezTo>
                <a:cubicBezTo>
                  <a:pt x="4157330" y="1173125"/>
                  <a:pt x="4284921" y="1127051"/>
                  <a:pt x="4284921" y="1127051"/>
                </a:cubicBezTo>
                <a:cubicBezTo>
                  <a:pt x="4309730" y="1135912"/>
                  <a:pt x="4292009" y="1131481"/>
                  <a:pt x="4274288" y="1127051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Picture 8" descr="What is hyperspectral imaging? | Popular Science">
            <a:extLst>
              <a:ext uri="{FF2B5EF4-FFF2-40B4-BE49-F238E27FC236}">
                <a16:creationId xmlns:a16="http://schemas.microsoft.com/office/drawing/2014/main" id="{B1EBA715-D2EC-07D8-39BE-7DD7510A0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8810" y="3616035"/>
            <a:ext cx="2278662" cy="128174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8CC057-F031-DE79-A784-224C2E5A3B5A}"/>
              </a:ext>
            </a:extLst>
          </p:cNvPr>
          <p:cNvSpPr txBox="1"/>
          <p:nvPr/>
        </p:nvSpPr>
        <p:spPr>
          <a:xfrm>
            <a:off x="561288" y="538864"/>
            <a:ext cx="5450676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Autonomous Lunar Exploration</a:t>
            </a:r>
          </a:p>
          <a:p>
            <a:pPr algn="r"/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Intelligent Rover Navigation &amp; Regolith Resource Extraction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87B3B9-B4B4-5059-AEB4-F1B92E9EC37E}"/>
              </a:ext>
            </a:extLst>
          </p:cNvPr>
          <p:cNvSpPr txBox="1"/>
          <p:nvPr/>
        </p:nvSpPr>
        <p:spPr>
          <a:xfrm>
            <a:off x="6251740" y="633066"/>
            <a:ext cx="4146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Zhengming Ding</a:t>
            </a:r>
            <a:r>
              <a:rPr lang="zh-CN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i="1" dirty="0">
                <a:latin typeface="Calibri" panose="020F0502020204030204" pitchFamily="34" charset="0"/>
                <a:cs typeface="Calibri" panose="020F0502020204030204" pitchFamily="34" charset="0"/>
              </a:rPr>
              <a:t>(CS) &amp; </a:t>
            </a:r>
            <a:r>
              <a:rPr lang="en-US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Zizhan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Zheng</a:t>
            </a:r>
            <a:r>
              <a:rPr lang="zh-CN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i="1" dirty="0">
                <a:latin typeface="Calibri" panose="020F0502020204030204" pitchFamily="34" charset="0"/>
                <a:cs typeface="Calibri" panose="020F0502020204030204" pitchFamily="34" charset="0"/>
              </a:rPr>
              <a:t>(CS)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Cynthia J. Ebinger</a:t>
            </a:r>
            <a:r>
              <a:rPr lang="zh-CN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i="1" dirty="0">
                <a:latin typeface="Calibri" panose="020F0502020204030204" pitchFamily="34" charset="0"/>
                <a:cs typeface="Calibri" panose="020F0502020204030204" pitchFamily="34" charset="0"/>
              </a:rPr>
              <a:t>(EES)</a:t>
            </a:r>
            <a:endParaRPr lang="en-US" sz="1600" b="1" dirty="0"/>
          </a:p>
        </p:txBody>
      </p:sp>
      <p:pic>
        <p:nvPicPr>
          <p:cNvPr id="23" name="Graphic 22" descr="Tulane University - Wikipedia">
            <a:extLst>
              <a:ext uri="{FF2B5EF4-FFF2-40B4-BE49-F238E27FC236}">
                <a16:creationId xmlns:a16="http://schemas.microsoft.com/office/drawing/2014/main" id="{1A20931F-F982-0D2E-62E5-F14E40220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34700" y="195403"/>
            <a:ext cx="975036" cy="1378839"/>
          </a:xfrm>
          <a:prstGeom prst="rect">
            <a:avLst/>
          </a:prstGeom>
        </p:spPr>
      </p:pic>
      <p:pic>
        <p:nvPicPr>
          <p:cNvPr id="6" name="Google Shape;68;p2">
            <a:extLst>
              <a:ext uri="{FF2B5EF4-FFF2-40B4-BE49-F238E27FC236}">
                <a16:creationId xmlns:a16="http://schemas.microsoft.com/office/drawing/2014/main" id="{D7343EB8-0601-1CBB-0F66-EBB903231E0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6009012" y="675012"/>
            <a:ext cx="172650" cy="121933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229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2">
            <a:extLst>
              <a:ext uri="{FF2B5EF4-FFF2-40B4-BE49-F238E27FC236}">
                <a16:creationId xmlns:a16="http://schemas.microsoft.com/office/drawing/2014/main" id="{3DC3079B-BE22-4B5A-3977-0CA27A4DD4EA}"/>
              </a:ext>
            </a:extLst>
          </p:cNvPr>
          <p:cNvSpPr/>
          <p:nvPr/>
        </p:nvSpPr>
        <p:spPr>
          <a:xfrm>
            <a:off x="425" y="0"/>
            <a:ext cx="12193200" cy="428573"/>
          </a:xfrm>
          <a:prstGeom prst="rect">
            <a:avLst/>
          </a:prstGeom>
          <a:solidFill>
            <a:srgbClr val="215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701D1-E194-729D-E095-1333122702D3}"/>
              </a:ext>
            </a:extLst>
          </p:cNvPr>
          <p:cNvSpPr txBox="1"/>
          <p:nvPr/>
        </p:nvSpPr>
        <p:spPr>
          <a:xfrm>
            <a:off x="461652" y="1471165"/>
            <a:ext cx="11500808" cy="15850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 Supervision and Research Activities: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Capstone Project (2025–2026):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Developed</a:t>
            </a:r>
            <a:r>
              <a:rPr lang="zh-CN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a camera-based autonomous rover navigation system.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REU Students (Summer 2026):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Conducted space robotics research and presented results at a poster session.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Graduate Student (Summer 2026):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Conducted research on Vision-Language-Action (VLA)</a:t>
            </a:r>
            <a:r>
              <a:rPr lang="en-US" altLang="zh-CN" sz="17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Capstone Project (2026–2027):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Ongoing on </a:t>
            </a:r>
            <a:r>
              <a:rPr lang="en-US" altLang="zh-CN" sz="1700" dirty="0">
                <a:latin typeface="Calibri" panose="020F0502020204030204" pitchFamily="34" charset="0"/>
                <a:cs typeface="Calibri" panose="020F0502020204030204" pitchFamily="34" charset="0"/>
              </a:rPr>
              <a:t>Camera &amp;</a:t>
            </a:r>
            <a:r>
              <a:rPr lang="zh-CN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700" dirty="0">
                <a:latin typeface="Calibri" panose="020F0502020204030204" pitchFamily="34" charset="0"/>
                <a:cs typeface="Calibri" panose="020F0502020204030204" pitchFamily="34" charset="0"/>
              </a:rPr>
              <a:t>Depth</a:t>
            </a:r>
            <a:r>
              <a:rPr lang="zh-CN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rover perception, </a:t>
            </a:r>
            <a:r>
              <a:rPr lang="en-US" altLang="zh-CN" sz="17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zh-CN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navigation.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AC4549-5BD1-928A-CFD3-C0854C189E15}"/>
              </a:ext>
            </a:extLst>
          </p:cNvPr>
          <p:cNvSpPr txBox="1"/>
          <p:nvPr/>
        </p:nvSpPr>
        <p:spPr>
          <a:xfrm>
            <a:off x="6326305" y="458651"/>
            <a:ext cx="37398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</a:t>
            </a:r>
            <a:r>
              <a:rPr lang="zh-CN" altLang="en-US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Device:</a:t>
            </a:r>
            <a:r>
              <a:rPr lang="zh-CN" altLang="en-US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altLang="zh-CN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Waveshare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UGV Rover ROS 2 Open-Source 6-Wheels 4WD AI Robot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0B9B7-7529-94A3-D6E8-7AA10B451663}"/>
              </a:ext>
            </a:extLst>
          </p:cNvPr>
          <p:cNvSpPr txBox="1"/>
          <p:nvPr/>
        </p:nvSpPr>
        <p:spPr>
          <a:xfrm>
            <a:off x="461652" y="3140301"/>
            <a:ext cx="8988840" cy="1092607"/>
          </a:xfrm>
          <a:prstGeom prst="rect">
            <a:avLst/>
          </a:prstGeom>
          <a:solidFill>
            <a:schemeClr val="accent4">
              <a:lumMod val="20000"/>
              <a:lumOff val="80000"/>
              <a:alpha val="47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r>
              <a:rPr lang="zh-CN" altLang="en-US" sz="24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Grants</a:t>
            </a:r>
            <a:r>
              <a:rPr lang="zh-CN" altLang="en-US" sz="24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eceived</a:t>
            </a:r>
            <a:r>
              <a:rPr lang="en-US" altLang="zh-CN" sz="24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 err="1">
                <a:latin typeface="Calibri" panose="020F0502020204030204" pitchFamily="34" charset="0"/>
                <a:cs typeface="Calibri" panose="020F0502020204030204" pitchFamily="34" charset="0"/>
              </a:rPr>
              <a:t>BoR</a:t>
            </a:r>
            <a:r>
              <a:rPr 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700" b="1" dirty="0" err="1">
                <a:latin typeface="Calibri" panose="020F0502020204030204" pitchFamily="34" charset="0"/>
                <a:cs typeface="Calibri" panose="020F0502020204030204" pitchFamily="34" charset="0"/>
              </a:rPr>
              <a:t>EPSCoR</a:t>
            </a:r>
            <a:r>
              <a:rPr 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 Seed Grant from </a:t>
            </a:r>
            <a:r>
              <a:rPr lang="en-US" sz="1700" b="1" dirty="0" err="1">
                <a:latin typeface="Calibri" panose="020F0502020204030204" pitchFamily="34" charset="0"/>
                <a:cs typeface="Calibri" panose="020F0502020204030204" pitchFamily="34" charset="0"/>
              </a:rPr>
              <a:t>LASpace</a:t>
            </a:r>
            <a:r>
              <a:rPr 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$40,000 to support the development of AI-enabled autonomous systems for space-related applications.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CA5A0-4505-AB50-721E-F683C7AF0E02}"/>
              </a:ext>
            </a:extLst>
          </p:cNvPr>
          <p:cNvSpPr txBox="1"/>
          <p:nvPr/>
        </p:nvSpPr>
        <p:spPr>
          <a:xfrm>
            <a:off x="461652" y="4324736"/>
            <a:ext cx="8988840" cy="1769715"/>
          </a:xfrm>
          <a:prstGeom prst="rect">
            <a:avLst/>
          </a:prstGeom>
          <a:solidFill>
            <a:srgbClr val="7030A0">
              <a:alpha val="6286"/>
            </a:srgb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</a:t>
            </a:r>
            <a:r>
              <a:rPr lang="en-US" altLang="zh-CN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pace-related </a:t>
            </a:r>
            <a:r>
              <a:rPr lang="en-US" altLang="zh-CN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onnections</a:t>
            </a:r>
            <a:r>
              <a:rPr lang="en-US" altLang="zh-CN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400" b="1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Juan M. Lorenzo (LSU)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— collaboration in planetary/lunar science and exploration.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NASA Marshall Space Flight Center — Dr. Michael Zanetti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— connection focused on lunar exploration, rover technologies, and potential NASA-related research opportunities.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b="1" dirty="0" err="1">
                <a:latin typeface="Calibri" panose="020F0502020204030204" pitchFamily="34" charset="0"/>
                <a:cs typeface="Calibri" panose="020F0502020204030204" pitchFamily="34" charset="0"/>
              </a:rPr>
              <a:t>Cislune</a:t>
            </a:r>
            <a:r>
              <a:rPr 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 — Erik Franks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— connection with the commercial lunar exploration sector and potential opportunities for AI-enabled lunar robotics.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CF36B7-6BB7-2F98-5E04-34E733FD30D0}"/>
              </a:ext>
            </a:extLst>
          </p:cNvPr>
          <p:cNvSpPr txBox="1"/>
          <p:nvPr/>
        </p:nvSpPr>
        <p:spPr>
          <a:xfrm>
            <a:off x="2328179" y="6248633"/>
            <a:ext cx="7122313" cy="369332"/>
          </a:xfrm>
          <a:prstGeom prst="rect">
            <a:avLst/>
          </a:prstGeom>
          <a:solidFill>
            <a:schemeClr val="bg1">
              <a:lumMod val="85000"/>
              <a:alpha val="14475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Deepen NASA Collaboration</a:t>
            </a:r>
            <a:r>
              <a:rPr lang="zh-CN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zh-CN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Strengthen Louisiana Space Partnerships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 descr="Continue PNGs for Free Download">
            <a:extLst>
              <a:ext uri="{FF2B5EF4-FFF2-40B4-BE49-F238E27FC236}">
                <a16:creationId xmlns:a16="http://schemas.microsoft.com/office/drawing/2014/main" id="{796E0B8E-1EAC-13A9-3B67-23DB2C549C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781" b="31101"/>
          <a:stretch>
            <a:fillRect/>
          </a:stretch>
        </p:blipFill>
        <p:spPr>
          <a:xfrm>
            <a:off x="559360" y="6152413"/>
            <a:ext cx="1418657" cy="554948"/>
          </a:xfrm>
          <a:prstGeom prst="rect">
            <a:avLst/>
          </a:prstGeom>
        </p:spPr>
      </p:pic>
      <p:pic>
        <p:nvPicPr>
          <p:cNvPr id="9" name="Graphic 8" descr="Tulane University - Wikipedia">
            <a:extLst>
              <a:ext uri="{FF2B5EF4-FFF2-40B4-BE49-F238E27FC236}">
                <a16:creationId xmlns:a16="http://schemas.microsoft.com/office/drawing/2014/main" id="{2C212B7E-E6B4-786C-2C12-5736C0041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34700" y="195403"/>
            <a:ext cx="975036" cy="1378839"/>
          </a:xfrm>
          <a:prstGeom prst="rect">
            <a:avLst/>
          </a:prstGeom>
        </p:spPr>
      </p:pic>
      <p:pic>
        <p:nvPicPr>
          <p:cNvPr id="5" name="Google Shape;68;p2">
            <a:extLst>
              <a:ext uri="{FF2B5EF4-FFF2-40B4-BE49-F238E27FC236}">
                <a16:creationId xmlns:a16="http://schemas.microsoft.com/office/drawing/2014/main" id="{B1CA690D-0D75-E227-B7BF-A3C25F4DF7A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400000">
            <a:off x="6009012" y="675012"/>
            <a:ext cx="172650" cy="121933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3FD973-1BB6-6BDC-BB03-1E9D513733EF}"/>
              </a:ext>
            </a:extLst>
          </p:cNvPr>
          <p:cNvSpPr txBox="1"/>
          <p:nvPr/>
        </p:nvSpPr>
        <p:spPr>
          <a:xfrm>
            <a:off x="463807" y="674095"/>
            <a:ext cx="5450676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Research Progress and Plan</a:t>
            </a:r>
            <a:endParaRPr lang="en-US" sz="1400" dirty="0"/>
          </a:p>
        </p:txBody>
      </p:sp>
      <p:pic>
        <p:nvPicPr>
          <p:cNvPr id="3" name="videoplayback.mp4">
            <a:hlinkClick r:id="" action="ppaction://media"/>
            <a:extLst>
              <a:ext uri="{FF2B5EF4-FFF2-40B4-BE49-F238E27FC236}">
                <a16:creationId xmlns:a16="http://schemas.microsoft.com/office/drawing/2014/main" id="{B2AFF8F0-0665-B08B-3107-4B03EE479D6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680032" y="2683577"/>
            <a:ext cx="2282428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3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9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</TotalTime>
  <Words>319</Words>
  <Application>Microsoft Macintosh PowerPoint</Application>
  <PresentationFormat>Widescreen</PresentationFormat>
  <Paragraphs>44</Paragraphs>
  <Slides>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Courier New</vt:lpstr>
      <vt:lpstr>Wingdings</vt:lpstr>
      <vt:lpstr>Office 2013 - 2022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Zhengming</dc:creator>
  <cp:lastModifiedBy>Ding, Zhengming</cp:lastModifiedBy>
  <cp:revision>79</cp:revision>
  <dcterms:created xsi:type="dcterms:W3CDTF">2026-08-18T23:45:07Z</dcterms:created>
  <dcterms:modified xsi:type="dcterms:W3CDTF">2026-09-21T14:13:17Z</dcterms:modified>
</cp:coreProperties>
</file>